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74320" cy="2743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84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promptly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Your prompt,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7C5CFF"/>
                </a:solidFill>
                <a:latin typeface="Georgia"/>
              </a:rPr>
              <a:t>sharpened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by a society of minds.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A90"/>
                </a:solidFill>
                <a:latin typeface="Courier New"/>
              </a:rPr>
              <a:t>Promptly — AI prompt optimization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43600"/>
            <a:ext cx="292608" cy="29260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5961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943600"/>
            <a:ext cx="292608" cy="292608"/>
          </a:xfrm>
          <a:prstGeom prst="rect">
            <a:avLst/>
          </a:prstGeom>
          <a:solidFill>
            <a:srgbClr val="FF7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961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5943600"/>
            <a:ext cx="292608" cy="292608"/>
          </a:xfrm>
          <a:prstGeom prst="rect">
            <a:avLst/>
          </a:prstGeom>
          <a:solidFill>
            <a:srgbClr val="5CF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5961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5943600"/>
            <a:ext cx="292608" cy="292608"/>
          </a:xfrm>
          <a:prstGeom prst="rect">
            <a:avLst/>
          </a:prstGeom>
          <a:solidFill>
            <a:srgbClr val="FF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4248" y="59618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9618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0"/>
                </a:solidFill>
                <a:latin typeface="Courier New"/>
              </a:rPr>
              <a:t>Analytical  ·  Creative  ·  Concise  ·  Structured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41414"/>
                </a:solidFill>
                <a:latin typeface="Georgia"/>
              </a:rPr>
              <a:t>Every team shipping LLM features
loses weeks to prompt tuning.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3474720" cy="22860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Calibri"/>
              </a:rPr>
              <a:t>Manual iteration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Hours → days → weeks of back-and-forth. Every model update restarts the clock.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468880"/>
            <a:ext cx="3474720" cy="22860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Calibri"/>
              </a:rPr>
              <a:t>Silent breakage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Prompts break across model versions with no warning. You find out in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68880"/>
            <a:ext cx="3474720" cy="22860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Calibri"/>
              </a:rPr>
              <a:t>No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0175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No versioning, no rollback, no audit trail. Every prompt is a one-off.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C5CFF"/>
                </a:solidFill>
                <a:latin typeface="Georgia"/>
              </a:rPr>
              <a:t>"You blame the model. It's never the model."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REAL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Georgia"/>
              </a:rPr>
              <a:t>A bad prompt isn't a bug.
It's a revenue leak.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474720" cy="292608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of AI feature failures trace back
to prompt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Statista,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94560"/>
            <a:ext cx="3474720" cy="292608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340%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ROI from optimized prompts
vs. unoptimized baselines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Deloitte,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94560"/>
            <a:ext cx="3474720" cy="292608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of engineer time lost per model
migration — repeated every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Industry avg.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Georgia"/>
              </a:rPr>
              <a:t>Every AI product needs this.
The market knows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474720" cy="256032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$1.7B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Prompt optimization market
size in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194560"/>
            <a:ext cx="3474720" cy="256032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$15.2B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46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Projected market size
by 2033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194560"/>
            <a:ext cx="3474720" cy="256032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5CFF"/>
                </a:solidFill>
                <a:latin typeface="Georgia"/>
              </a:rPr>
              <a:t>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246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Calibri"/>
              </a:rPr>
              <a:t>CAGR — one of the fastest
growing AI sub-markets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Source: Growth Market Reports,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C5CFF"/>
                </a:solidFill>
                <a:latin typeface="Georgia"/>
              </a:rPr>
              <a:t>"This is infrastructure, not tooling."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7C5CFF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EDEDED"/>
                </a:solidFill>
                <a:latin typeface="Georgia"/>
              </a:rPr>
              <a:t>The mind is a society of tiny agents,
each mindless by itself.
Intelligence is what emerges
when they interact.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— Marvin Minsky  ·  Society of Mind, 1986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6052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5B5BA"/>
                </a:solidFill>
                <a:latin typeface="Calibri"/>
              </a:rPr>
              <a:t>Minsky proved that intelligence is emergent, not monolithic. In 1986, he described
the architecture we built — now applied to prompt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41414"/>
                </a:solidFill>
                <a:latin typeface="Georgia"/>
              </a:rPr>
              <a:t>A society of four specialist agents —
proposing, reviewing, synthesizing.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Paste any prompt. Get back the best version none of the agents could write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53512"/>
            <a:ext cx="283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80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Calibri"/>
              </a:rPr>
              <a:t>Analytical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926080"/>
            <a:ext cx="320040" cy="320040"/>
          </a:xfrm>
          <a:prstGeom prst="rect">
            <a:avLst/>
          </a:prstGeom>
          <a:solidFill>
            <a:srgbClr val="FF7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2953512"/>
            <a:ext cx="283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980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Calibri"/>
              </a:rPr>
              <a:t>Creative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926080"/>
            <a:ext cx="320040" cy="320040"/>
          </a:xfrm>
          <a:prstGeom prst="rect">
            <a:avLst/>
          </a:prstGeom>
          <a:solidFill>
            <a:srgbClr val="5CF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953512"/>
            <a:ext cx="283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980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Calibri"/>
              </a:rPr>
              <a:t>Concise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926080"/>
            <a:ext cx="320040" cy="320040"/>
          </a:xfrm>
          <a:prstGeom prst="rect">
            <a:avLst/>
          </a:prstGeom>
          <a:solidFill>
            <a:srgbClr val="FF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2953512"/>
            <a:ext cx="283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98094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Calibri"/>
              </a:rPr>
              <a:t>Structured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920240" cy="50292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Courier New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858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5C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749039"/>
            <a:ext cx="1920240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PROPOSE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58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5CF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749039"/>
            <a:ext cx="1920240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CRITIQUE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858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5CFF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749039"/>
            <a:ext cx="1920240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SYNTHESIZE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858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5CFF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3749039"/>
            <a:ext cx="1920240" cy="50292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8221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1414"/>
                </a:solidFill>
                <a:latin typeface="Courier New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01  ·  PROPOSE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Georgia"/>
              </a:rPr>
              <a:t>Four minds. One prompt. Parallel.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1828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75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4"/>
                </a:solidFill>
                <a:latin typeface="Courier New"/>
              </a:rPr>
              <a:t>ANALYTICAL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Adds constraints, output schema, and precision guardrails.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94960" cy="1828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365760" cy="365760"/>
          </a:xfrm>
          <a:prstGeom prst="rect">
            <a:avLst/>
          </a:prstGeom>
          <a:solidFill>
            <a:srgbClr val="FF7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0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4"/>
                </a:solidFill>
                <a:latin typeface="Courier New"/>
              </a:rPr>
              <a:t>CREATIVE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Adds persona, worked examples, and voice directives.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5394960" cy="1828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solidFill>
            <a:srgbClr val="5CF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788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4"/>
                </a:solidFill>
                <a:latin typeface="Courier New"/>
              </a:rPr>
              <a:t>CONCISE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5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Strips every filler word. Maximises signal density.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931920"/>
            <a:ext cx="5394960" cy="1828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60520"/>
            <a:ext cx="365760" cy="365760"/>
          </a:xfrm>
          <a:prstGeom prst="rect">
            <a:avLst/>
          </a:prstGeom>
          <a:solidFill>
            <a:srgbClr val="FF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1788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1414"/>
                </a:solidFill>
                <a:latin typeface="Courier New"/>
              </a:rPr>
              <a:t>STRUCTURED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59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Adds logical decomposition and output schemas.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03504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urier New"/>
              </a:rPr>
              <a:t>No agent sees what the others write.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02  ·  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Georgia"/>
              </a:rPr>
              <a:t>Blind peer review. No favouritism.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Each agent reviews the other three proposals — shown anonymously as A/B/C/D.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5943600" cy="256032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critic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ourier New"/>
              </a:rPr>
              <a:t>B &gt; D &gt; A &gt;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critic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ourier New"/>
              </a:rPr>
              <a:t>A &gt; B &gt; D &gt;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critic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ourier New"/>
              </a:rPr>
              <a:t>C &gt; A &gt; D &gt;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critic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ourier New"/>
              </a:rPr>
              <a:t>D &gt; A &gt; B &gt;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7C5CFF"/>
                </a:solidFill>
                <a:latin typeface="Georgia"/>
              </a:rPr>
              <a:t>Rankings aggregated
→ consensus emerges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No agent knows which proposal is theirs.
No model favours its own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The result: a rankings consensus that emerges from four independent judgements.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03  ·  SYNTHESIZE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A chairman writes the final.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5B5BA"/>
                </a:solidFill>
                <a:latin typeface="Calibri"/>
              </a:rPr>
              <a:t>A separate synthesis model reads all four proposals and all four critique reports,
then extracts the strongest element from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B85C"/>
                </a:solidFill>
                <a:latin typeface="Courier New"/>
              </a:rPr>
              <a:t>→  structure    from proposal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015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7AC6"/>
                </a:solidFill>
                <a:latin typeface="Courier New"/>
              </a:rPr>
              <a:t>→  persona      from proposal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9935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C5CFF"/>
                </a:solidFill>
                <a:latin typeface="Courier New"/>
              </a:rPr>
              <a:t>→  constraints  from proposal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1830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CFFB1"/>
                </a:solidFill>
                <a:latin typeface="Courier New"/>
              </a:rPr>
              <a:t>→  brevity      from proposal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06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Georgia"/>
              </a:rPr>
              <a:t>One result. Genuinely emergent. None of them could write it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141414"/>
                </a:solidFill>
                <a:latin typeface="Georgia"/>
              </a:rPr>
              <a:t>The numbers speak.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6120" y="1783080"/>
            <a:ext cx="45720" cy="411480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5CFF"/>
                </a:solidFill>
                <a:latin typeface="Georgia"/>
              </a:rPr>
              <a:t>3.8×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average quality uplift
vs. original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783080"/>
            <a:ext cx="45720" cy="411480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5CFF"/>
                </a:solidFill>
                <a:latin typeface="Georgia"/>
              </a:rPr>
              <a:t>42s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median end-to-end
optimize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783080"/>
            <a:ext cx="45720" cy="411480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5CFF"/>
                </a:solidFill>
                <a:latin typeface="Georgia"/>
              </a:rPr>
              <a:t>12,400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prompts optimized
this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920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5CFF"/>
                </a:solidFill>
                <a:latin typeface="Georgia"/>
              </a:rPr>
              <a:t>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of users ship the synthesized
result unchanged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Georgia"/>
              </a:rPr>
              <a:t>Built for people who ship with LLMs.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474720" cy="4114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FOR PRODUCT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41414"/>
                </a:solidFill>
                <a:latin typeface="Georgia"/>
              </a:rPr>
              <a:t>Stop losing a week to prompt tuning.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Paste the prompt from your PRD. Ship the optimized one to staging by lunch. The council handles role, format, constraints, and edge cases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874519"/>
            <a:ext cx="3474720" cy="4114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FOR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41414"/>
                </a:solidFill>
                <a:latin typeface="Georgia"/>
              </a:rPr>
              <a:t>Treat prompts like 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546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Stable IDs, versioned history, diff view, rollback. Wire the API into your CI so every merge runs the health score against all ten quality dimensions.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874519"/>
            <a:ext cx="3474720" cy="4114800"/>
          </a:xfrm>
          <a:prstGeom prst="rect">
            <a:avLst/>
          </a:prstGeom>
          <a:noFill/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057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FOR WRITERS &amp;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423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41414"/>
                </a:solidFill>
                <a:latin typeface="Georgia"/>
              </a:rPr>
              <a:t>Write in plain English.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15468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No prompt-engineering jargon. Say what you want; the society handles the rest. You'll never manually add a role, output schema, or guardrail again.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41414"/>
                </a:solidFill>
                <a:latin typeface="Georgia"/>
              </a:rPr>
              <a:t>Pay for what you actually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34747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ourier New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Georgia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606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/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100 credits on 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850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10 credits / month refill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3 saved prompt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62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Community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474720" cy="4572000"/>
          </a:xfrm>
          <a:prstGeom prst="rect">
            <a:avLst/>
          </a:prstGeom>
          <a:solidFill>
            <a:srgbClr val="1E1E2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A90"/>
                </a:solidFill>
                <a:latin typeface="Courier New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$29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606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alibri"/>
              </a:rPr>
              <a:t>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B5BA"/>
                </a:solidFill>
                <a:latin typeface="Calibri"/>
              </a:rPr>
              <a:t>✓  1,000 credits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850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B5BA"/>
                </a:solidFill>
                <a:latin typeface="Calibri"/>
              </a:rPr>
              <a:t>✓  Unlimited prompt 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239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B5BA"/>
                </a:solidFill>
                <a:latin typeface="Calibri"/>
              </a:rPr>
              <a:t>✓  API access +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62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5B5BA"/>
                </a:solidFill>
                <a:latin typeface="Calibri"/>
              </a:rPr>
              <a:t>✓  Priority email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5CFF"/>
                </a:solidFill>
                <a:latin typeface="Courier New"/>
              </a:rPr>
              <a:t>MOST POPULAR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83080"/>
            <a:ext cx="34747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ourier New"/>
              </a:rPr>
              <a:t>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331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Georgia"/>
              </a:rPr>
              <a:t>$99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606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5,000 credits pooled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6850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Up to 10 seats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41239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SSO + audit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562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Dedicated Slack channel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urier New"/>
              </a:rPr>
              <a:t>1 optimize run = 10 credits  ·  1 health score = 5 credits  ·  unused credits roll 90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5CFF"/>
                </a:solidFill>
                <a:latin typeface="Courier New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41414"/>
                </a:solidFill>
                <a:latin typeface="Georgia"/>
              </a:rPr>
              <a:t>No one else runs four agents,
blind-reviewing each 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solidFill>
            <a:srgbClr val="1E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A90"/>
                </a:solidFill>
                <a:latin typeface="Courier New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5CFF"/>
                </a:solidFill>
                <a:latin typeface="Courier New"/>
              </a:rPr>
              <a:t>PROMPTLY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8A90"/>
                </a:solidFill>
                <a:latin typeface="Courier New"/>
              </a:rPr>
              <a:t>OTHERS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7772400" cy="50292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54864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Calibri"/>
              </a:rPr>
              <a:t>Multi-agent peer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706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70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Calibri"/>
              </a:rPr>
              <a:t>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7772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Calibri"/>
              </a:rPr>
              <a:t>Emergent synthesis (not best-of-N)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009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009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Calibri"/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58184"/>
            <a:ext cx="7772400" cy="50292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58184"/>
            <a:ext cx="54864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4962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Calibri"/>
              </a:rPr>
              <a:t>Stable prompt IDs + versioning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313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88536"/>
            <a:ext cx="7772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88536"/>
            <a:ext cx="54864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79975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Calibri"/>
              </a:rPr>
              <a:t>Model-agnostic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361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616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18888"/>
            <a:ext cx="7772400" cy="502920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18888"/>
            <a:ext cx="54864" cy="5029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10327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Calibri"/>
              </a:rPr>
              <a:t>Credit refund if no quality uplift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892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920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4068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Workflow lock-in via versioned prompt families. Data flywheel improves synthesis with every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" cy="109728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5CFF"/>
                </a:solidFill>
                <a:latin typeface="Courier New"/>
              </a:rPr>
              <a:t>READY WHEN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Georgia"/>
              </a:rPr>
              <a:t>Let the society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1">
                <a:solidFill>
                  <a:srgbClr val="7C5CFF"/>
                </a:solidFill>
                <a:latin typeface="Georgia"/>
              </a:rPr>
              <a:t>sharpen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Georgia"/>
              </a:rPr>
              <a:t>your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5B5BA"/>
                </a:solidFill>
                <a:latin typeface="Calibri"/>
              </a:rPr>
              <a:t>100 credits free  ·  No card required  ·  First council run under a minute.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2926080" cy="59436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07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 Try Promptly 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77840"/>
            <a:ext cx="11274552" cy="9144"/>
          </a:xfrm>
          <a:prstGeom prst="rect">
            <a:avLst/>
          </a:prstGeom>
          <a:solidFill>
            <a:srgbClr val="E5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0"/>
                </a:solidFill>
                <a:latin typeface="Courier New"/>
              </a:rPr>
              <a:t>hey@promptly.dev  ·  promptly.dev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6309360"/>
            <a:ext cx="256032" cy="256032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6327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5B5BA"/>
                </a:solidFill>
                <a:latin typeface="Calibri"/>
              </a:rPr>
              <a:t>promptly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